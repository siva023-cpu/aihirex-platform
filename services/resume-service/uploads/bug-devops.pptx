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3" r:id="rId5"/>
    <p:sldId id="261" r:id="rId6"/>
    <p:sldId id="262" r:id="rId7"/>
    <p:sldId id="264" r:id="rId8"/>
    <p:sldId id="265" r:id="rId9"/>
    <p:sldId id="266" r:id="rId10"/>
    <p:sldId id="271" r:id="rId11"/>
    <p:sldId id="272" r:id="rId12"/>
    <p:sldId id="274" r:id="rId13"/>
    <p:sldId id="275" r:id="rId14"/>
    <p:sldId id="276" r:id="rId15"/>
    <p:sldId id="277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32:50.0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35:27.91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1 0 9830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38:06.3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38:11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 11247,'565'-9'0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38:47.8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 11672,'564'-18'0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39:44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983 62 4915,'-212'-11'3356,"161"8"-2660,-8-2 227,-110-3 1280,22-5 110,-49 1 344,142 12-1877,42 0-589,1 1-1,-1-2 1,1 1-1,-1-1 0,-16-5 1,19 4-161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39:51.5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11099 6 19533,'-11099'0'0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41:12.80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652 35 12707,'-652'-35'0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41:24.45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13990,'1659'0'0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6:41:36.06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14881,'2403'0'0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0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7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67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61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21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72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34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89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74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77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1B19B-EAE4-4E7C-9397-6CBDF6F8427A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08704-01F0-4703-90F2-00EE1A8D52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51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4.xml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6.xml"/><Relationship Id="rId7" Type="http://schemas.openxmlformats.org/officeDocument/2006/relationships/image" Target="../media/image4.png"/><Relationship Id="rId12" Type="http://schemas.openxmlformats.org/officeDocument/2006/relationships/customXml" Target="../ink/ink3.xml"/><Relationship Id="rId25" Type="http://schemas.openxmlformats.org/officeDocument/2006/relationships/customXml" Target="../ink/ink7.xml"/><Relationship Id="rId2" Type="http://schemas.openxmlformats.org/officeDocument/2006/relationships/image" Target="../media/image1.jpeg"/><Relationship Id="rId20" Type="http://schemas.openxmlformats.org/officeDocument/2006/relationships/image" Target="../media/image10.png"/><Relationship Id="rId29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.png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15" Type="http://schemas.openxmlformats.org/officeDocument/2006/relationships/customXml" Target="../ink/ink5.xml"/><Relationship Id="rId28" Type="http://schemas.openxmlformats.org/officeDocument/2006/relationships/image" Target="../media/image14.png"/><Relationship Id="rId31" Type="http://schemas.openxmlformats.org/officeDocument/2006/relationships/customXml" Target="../ink/ink10.xml"/><Relationship Id="rId14" Type="http://schemas.openxmlformats.org/officeDocument/2006/relationships/image" Target="../media/image7.png"/><Relationship Id="rId27" Type="http://schemas.openxmlformats.org/officeDocument/2006/relationships/customXml" Target="../ink/ink8.xml"/><Relationship Id="rId30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4C8BEE4-2E42-0424-8185-4F8103B2F798}"/>
              </a:ext>
            </a:extLst>
          </p:cNvPr>
          <p:cNvGrpSpPr/>
          <p:nvPr/>
        </p:nvGrpSpPr>
        <p:grpSpPr>
          <a:xfrm>
            <a:off x="2111194" y="124976"/>
            <a:ext cx="8269733" cy="6651974"/>
            <a:chOff x="3236843" y="498938"/>
            <a:chExt cx="8156708" cy="741543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F56F9F5-2F5A-A9BC-CB8E-0FF1D76110F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0441" y="1548043"/>
              <a:ext cx="1783328" cy="1308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9C507738-8A3F-F9CC-77A8-554E49355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076" y="4517674"/>
              <a:ext cx="7273275" cy="339669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anchor="ctr">
              <a:spAutoFit/>
            </a:bodyPr>
            <a:lstStyle/>
            <a:p>
              <a:pPr algn="ctr" defTabSz="914400">
                <a:defRPr/>
              </a:pPr>
              <a:r>
                <a:rPr lang="en-US" altLang="en-US" sz="16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Team Members</a:t>
              </a:r>
            </a:p>
            <a:p>
              <a:pPr algn="ctr" defTabSz="914400">
                <a:defRPr/>
              </a:pPr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M. SIVA SANKAR KUMAR        - 23T95A0516</a:t>
              </a:r>
            </a:p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K. BHUVANESWARI                   - 23T95A0511</a:t>
              </a:r>
            </a:p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T. PRAVEEN                                 - 22T91A05C6</a:t>
              </a:r>
            </a:p>
            <a:p>
              <a:r>
                <a: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V. RENUKA RATHNAM              - 22T91A05D4</a:t>
              </a:r>
            </a:p>
            <a:p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1" algn="ctr">
                <a:tabLst>
                  <a:tab pos="565150" algn="l"/>
                  <a:tab pos="798513" algn="l"/>
                </a:tabLst>
                <a:defRPr/>
              </a:pPr>
              <a:r>
                <a:rPr lang="en-US" altLang="en-US" sz="1600" b="1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GIET ENGINEERING COLLEGE</a:t>
              </a:r>
              <a:endPara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914400">
                <a:defRPr/>
              </a:pPr>
              <a:r>
                <a:rPr lang="en-US" altLang="en-US" sz="16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[Affiliated to JNTUK, Kakinada |Approved by AICTE| Accredited by NAAC A+]</a:t>
              </a:r>
              <a:endPara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914400">
                <a:defRPr/>
              </a:pPr>
              <a:r>
                <a:rPr lang="en-US" altLang="en-US" sz="16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NH-16, CHAITANYA KNOWLEDGE CITY, RAJAMAHENDRAVARAM – 533 296, ANDHRA PRADESH</a:t>
              </a:r>
              <a:endPara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914400">
                <a:defRPr/>
              </a:pPr>
              <a:r>
                <a:rPr lang="en-US" altLang="en-US" sz="1600" b="1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2025-2026</a:t>
              </a:r>
              <a:endPara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76B455-8E5F-32E7-076E-EBDCD52B936A}"/>
                </a:ext>
              </a:extLst>
            </p:cNvPr>
            <p:cNvSpPr txBox="1"/>
            <p:nvPr/>
          </p:nvSpPr>
          <p:spPr>
            <a:xfrm>
              <a:off x="5485054" y="3905457"/>
              <a:ext cx="4487411" cy="7205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           Mrs. A.L. Prasanna, MTech., </a:t>
              </a:r>
            </a:p>
            <a:p>
              <a:pPr defTabSz="9144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                 Assistant Professor.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8ABFA5-D54A-04D2-F664-FBE8E20AD503}"/>
                </a:ext>
              </a:extLst>
            </p:cNvPr>
            <p:cNvSpPr txBox="1"/>
            <p:nvPr/>
          </p:nvSpPr>
          <p:spPr>
            <a:xfrm>
              <a:off x="3925761" y="2814742"/>
              <a:ext cx="7152690" cy="926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4400">
                <a:defRPr/>
              </a:pPr>
              <a:r>
                <a:rPr lang="en-US" altLang="en-US" sz="1600" dirty="0"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rPr>
                <a:t>DEPARTMENT OF COMPUTER SCIENCE OF ENGINEERING</a:t>
              </a:r>
            </a:p>
            <a:p>
              <a:pPr algn="ctr" defTabSz="914400">
                <a:defRPr/>
              </a:pPr>
              <a:r>
                <a: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Batch-08       </a:t>
              </a:r>
            </a:p>
            <a:p>
              <a:pPr algn="ctr" defTabSz="914400">
                <a:defRPr/>
              </a:pPr>
              <a:r>
                <a: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Review-02  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2B4D16-046E-C6B8-0B4A-47DFD8E5835C}"/>
                </a:ext>
              </a:extLst>
            </p:cNvPr>
            <p:cNvSpPr txBox="1"/>
            <p:nvPr/>
          </p:nvSpPr>
          <p:spPr>
            <a:xfrm>
              <a:off x="5857850" y="3591302"/>
              <a:ext cx="3288510" cy="411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Under the Esteemed Guidance Of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81CC2A-B768-F415-2C76-FFCC1EA50410}"/>
                </a:ext>
              </a:extLst>
            </p:cNvPr>
            <p:cNvSpPr txBox="1"/>
            <p:nvPr/>
          </p:nvSpPr>
          <p:spPr>
            <a:xfrm>
              <a:off x="3236843" y="498938"/>
              <a:ext cx="8156708" cy="1132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and Implementation of </a:t>
              </a:r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DevSecOps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Pipeline</a:t>
              </a:r>
              <a:b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for</a:t>
              </a:r>
              <a:b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Bug Tracking Web Application</a:t>
              </a:r>
              <a:endParaRPr lang="en-US" sz="2000" dirty="0"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D6777A-2BF7-F6DF-38E9-59D040A50341}"/>
                  </a:ext>
                </a:extLst>
              </p14:cNvPr>
              <p14:cNvContentPartPr/>
              <p14:nvPr/>
            </p14:nvContentPartPr>
            <p14:xfrm>
              <a:off x="10882308" y="87553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D6777A-2BF7-F6DF-38E9-59D040A503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19308" y="8125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BA5B595-E85C-3DFA-4935-E9BA3B2AE9F0}"/>
                  </a:ext>
                </a:extLst>
              </p14:cNvPr>
              <p14:cNvContentPartPr/>
              <p14:nvPr/>
            </p14:nvContentPartPr>
            <p14:xfrm>
              <a:off x="592068" y="343837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BA5B595-E85C-3DFA-4935-E9BA3B2AE9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748" y="343405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36ACD13-27AD-AFB8-48DE-859D829F3CEC}"/>
                  </a:ext>
                </a:extLst>
              </p14:cNvPr>
              <p14:cNvContentPartPr/>
              <p14:nvPr/>
            </p14:nvContentPartPr>
            <p14:xfrm>
              <a:off x="9712095" y="639099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36ACD13-27AD-AFB8-48DE-859D829F3C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49455" y="632835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9E598BB-8575-AED2-5DF6-CB046FA5ED27}"/>
                  </a:ext>
                </a:extLst>
              </p14:cNvPr>
              <p14:cNvContentPartPr/>
              <p14:nvPr/>
            </p14:nvContentPartPr>
            <p14:xfrm>
              <a:off x="9267495" y="6664230"/>
              <a:ext cx="203760" cy="36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9E598BB-8575-AED2-5DF6-CB046FA5ED2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04495" y="6601230"/>
                <a:ext cx="3294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FDA4FCB-6A67-98D4-935D-08B2AC095C43}"/>
                  </a:ext>
                </a:extLst>
              </p14:cNvPr>
              <p14:cNvContentPartPr/>
              <p14:nvPr/>
            </p14:nvContentPartPr>
            <p14:xfrm>
              <a:off x="9156615" y="6660990"/>
              <a:ext cx="203400" cy="6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FDA4FCB-6A67-98D4-935D-08B2AC095C4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93615" y="6597990"/>
                <a:ext cx="3290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43D203C-FDD2-6F9E-0B45-A8F897CC3C37}"/>
                  </a:ext>
                </a:extLst>
              </p14:cNvPr>
              <p14:cNvContentPartPr/>
              <p14:nvPr/>
            </p14:nvContentPartPr>
            <p14:xfrm>
              <a:off x="3775132" y="6650085"/>
              <a:ext cx="354240" cy="22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43D203C-FDD2-6F9E-0B45-A8F897CC3C3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12132" y="6587445"/>
                <a:ext cx="4798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321DDCD-1A2B-5C7D-EF92-0E459925C7D1}"/>
                  </a:ext>
                </a:extLst>
              </p14:cNvPr>
              <p14:cNvContentPartPr/>
              <p14:nvPr/>
            </p14:nvContentPartPr>
            <p14:xfrm>
              <a:off x="285652" y="6662325"/>
              <a:ext cx="3996000" cy="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321DDCD-1A2B-5C7D-EF92-0E459925C7D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22652" y="6536325"/>
                <a:ext cx="41216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33AA464-1CBA-53F7-3A7D-E761120A0538}"/>
                  </a:ext>
                </a:extLst>
              </p14:cNvPr>
              <p14:cNvContentPartPr/>
              <p14:nvPr/>
            </p14:nvContentPartPr>
            <p14:xfrm>
              <a:off x="11804570" y="6679990"/>
              <a:ext cx="235080" cy="12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33AA464-1CBA-53F7-3A7D-E761120A053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768570" y="6643990"/>
                <a:ext cx="3067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4B4CB7F-A3B7-00FA-BA62-83B9C8D6CEDB}"/>
                  </a:ext>
                </a:extLst>
              </p14:cNvPr>
              <p14:cNvContentPartPr/>
              <p14:nvPr/>
            </p14:nvContentPartPr>
            <p14:xfrm>
              <a:off x="10642490" y="6699070"/>
              <a:ext cx="597240" cy="6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4B4CB7F-A3B7-00FA-BA62-83B9C8D6CED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606512" y="6015070"/>
                <a:ext cx="668837" cy="13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B22F5A5-8FBC-C657-644F-6B8BEA4E0E80}"/>
                  </a:ext>
                </a:extLst>
              </p14:cNvPr>
              <p14:cNvContentPartPr/>
              <p14:nvPr/>
            </p14:nvContentPartPr>
            <p14:xfrm>
              <a:off x="11169530" y="6718429"/>
              <a:ext cx="865440" cy="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B22F5A5-8FBC-C657-644F-6B8BEA4E0E8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133530" y="6646429"/>
                <a:ext cx="93708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0506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CF79-0640-E684-D470-BDB49FF3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1DBC-F81B-91AE-7A83-BB83C498C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F3235-75B9-C0AB-C967-E180969EE3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A4073-D6D6-4CC6-C7AF-191B91549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8C97C1-B340-3B26-F474-6B7F4C062419}"/>
              </a:ext>
            </a:extLst>
          </p:cNvPr>
          <p:cNvSpPr txBox="1"/>
          <p:nvPr/>
        </p:nvSpPr>
        <p:spPr>
          <a:xfrm>
            <a:off x="4726597" y="441949"/>
            <a:ext cx="2738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CONTEXT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92397-2B23-6912-093A-A36280A094A5}"/>
              </a:ext>
            </a:extLst>
          </p:cNvPr>
          <p:cNvSpPr txBox="1"/>
          <p:nvPr/>
        </p:nvSpPr>
        <p:spPr>
          <a:xfrm>
            <a:off x="760937" y="1580653"/>
            <a:ext cx="56275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 Limitations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 &amp; Applications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Requirements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&amp; Description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E914D9-9521-9BEA-A61A-10F3C4926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3" t="9043" b="10648"/>
          <a:stretch>
            <a:fillRect/>
          </a:stretch>
        </p:blipFill>
        <p:spPr>
          <a:xfrm>
            <a:off x="7469204" y="1600200"/>
            <a:ext cx="3812790" cy="356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1552-0844-3B11-9D52-B856973F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B56C-44D3-77D0-65AC-88F054539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B21BE-7D24-E810-A1AD-051597E9B8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63213-38FF-ADCA-3C49-B499CBAB3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400"/>
            <a:ext cx="12192000" cy="686414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5C91BB0-4E0C-17FC-1FEB-B5265A6A47D1}"/>
              </a:ext>
            </a:extLst>
          </p:cNvPr>
          <p:cNvSpPr/>
          <p:nvPr/>
        </p:nvSpPr>
        <p:spPr>
          <a:xfrm>
            <a:off x="527824" y="1510081"/>
            <a:ext cx="9286735" cy="47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secure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CI/CD pipeline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Flask-based Bug Tracking Web Application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Docker containerization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automated security scanning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on cloud platform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reliable delivery</a:t>
            </a:r>
          </a:p>
          <a:p>
            <a:pPr algn="l">
              <a:lnSpc>
                <a:spcPts val="2850"/>
              </a:lnSpc>
            </a:pPr>
            <a:endParaRPr lang="en-US" sz="2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0E616F6-6E4F-228D-BBB0-7538E74DADCE}"/>
              </a:ext>
            </a:extLst>
          </p:cNvPr>
          <p:cNvSpPr/>
          <p:nvPr/>
        </p:nvSpPr>
        <p:spPr>
          <a:xfrm>
            <a:off x="4839941" y="406974"/>
            <a:ext cx="251211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ABSTRACT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71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3E3A1-5E77-2EB5-E6FF-23E62989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EEFC-8032-AB41-40D3-E3B5522C6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1348F-94ED-30A9-9D16-1B62DEA2E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FF2E2-F7C9-3189-8AF7-5AAEEC015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0"/>
            <a:ext cx="12192000" cy="686414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DA4F919-6CB1-4500-58C7-BC2CEC7BDF66}"/>
              </a:ext>
            </a:extLst>
          </p:cNvPr>
          <p:cNvSpPr/>
          <p:nvPr/>
        </p:nvSpPr>
        <p:spPr>
          <a:xfrm>
            <a:off x="4351675" y="427751"/>
            <a:ext cx="34886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INTRODUCTION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8D728-010C-FACB-6D95-A10164EF8757}"/>
              </a:ext>
            </a:extLst>
          </p:cNvPr>
          <p:cNvSpPr txBox="1"/>
          <p:nvPr/>
        </p:nvSpPr>
        <p:spPr>
          <a:xfrm>
            <a:off x="429603" y="994727"/>
            <a:ext cx="107661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DevOps?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is a software development approach combining development and operations.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Continuous Integration and Continuous Deployment (CI/CD).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collaboration, automation, and faster delivery.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reliable and scalable application deployment.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security into every stage of DevOps.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Embeds automated security checks within CI/CD pipelines.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“Shift-Left Security” (early vulnerability detection).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80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B0A6-9ED5-C7FE-7E23-B40AF9FF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C3E2-26C2-E540-8C12-1F900E760F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21DA0-AEEA-31AC-0E7E-6A6D6147D8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3C71A-8D21-8888-8D83-CF0376C1C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0"/>
            <a:ext cx="12192000" cy="686414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80EF845-047E-F28B-3938-D456536EADA2}"/>
              </a:ext>
            </a:extLst>
          </p:cNvPr>
          <p:cNvSpPr/>
          <p:nvPr/>
        </p:nvSpPr>
        <p:spPr>
          <a:xfrm>
            <a:off x="3230817" y="538678"/>
            <a:ext cx="5730366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800"/>
              </a:lnSpc>
            </a:pPr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EXISTING SYSTEM &amp; LIMITATIONS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DE60165-7A25-C6D4-9BBC-0B84BF90BA61}"/>
              </a:ext>
            </a:extLst>
          </p:cNvPr>
          <p:cNvSpPr/>
          <p:nvPr/>
        </p:nvSpPr>
        <p:spPr>
          <a:xfrm>
            <a:off x="1053637" y="1744561"/>
            <a:ext cx="7907546" cy="207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DevOps pipelines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added at final stage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vulnerability checks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bug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398B0C-79DC-AEE5-4B50-E1CCA1B3C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880" y="1541463"/>
            <a:ext cx="5220606" cy="26853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DCFE9D-B9FE-9109-3CDE-D05F1D53F80A}"/>
              </a:ext>
            </a:extLst>
          </p:cNvPr>
          <p:cNvSpPr txBox="1"/>
          <p:nvPr/>
        </p:nvSpPr>
        <p:spPr>
          <a:xfrm>
            <a:off x="961317" y="4321410"/>
            <a:ext cx="61849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treated as separate phase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validation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deployment risk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human error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DEA0858-7F66-9273-F84E-E31E61847510}"/>
              </a:ext>
            </a:extLst>
          </p:cNvPr>
          <p:cNvSpPr/>
          <p:nvPr/>
        </p:nvSpPr>
        <p:spPr>
          <a:xfrm>
            <a:off x="335082" y="3762134"/>
            <a:ext cx="2575741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800"/>
              </a:lnSpc>
            </a:pPr>
            <a:r>
              <a:rPr lang="en-US" sz="20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Limitations: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11A0D1-2D09-1E23-1CFA-89E77B553A1E}"/>
              </a:ext>
            </a:extLst>
          </p:cNvPr>
          <p:cNvSpPr txBox="1"/>
          <p:nvPr/>
        </p:nvSpPr>
        <p:spPr>
          <a:xfrm>
            <a:off x="873331" y="1184855"/>
            <a:ext cx="2177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</p:txBody>
      </p:sp>
    </p:spTree>
    <p:extLst>
      <p:ext uri="{BB962C8B-B14F-4D97-AF65-F5344CB8AC3E}">
        <p14:creationId xmlns:p14="http://schemas.microsoft.com/office/powerpoint/2010/main" val="412314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7CBD-5DA9-D745-4833-952F2628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081E-7E07-EA73-213C-992AF95D4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D1DDB-0F3E-E338-7316-EA6A45A431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61564-8B6D-252A-E12D-BA644DABA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931F6C3-1505-292B-FA7F-12B84A0C4907}"/>
              </a:ext>
            </a:extLst>
          </p:cNvPr>
          <p:cNvSpPr/>
          <p:nvPr/>
        </p:nvSpPr>
        <p:spPr>
          <a:xfrm>
            <a:off x="793786" y="908079"/>
            <a:ext cx="435264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b="1" dirty="0">
                <a:solidFill>
                  <a:srgbClr val="FFFFFF"/>
                </a:solidFill>
                <a:latin typeface="Berlin Sans FB Demi" panose="020E0802020502020306" pitchFamily="34" charset="0"/>
                <a:ea typeface="Roboto Medium" pitchFamily="34" charset="-122"/>
                <a:cs typeface="Roboto Medium" pitchFamily="34" charset="-120"/>
              </a:rPr>
              <a:t>PROPOSED SYSTEM</a:t>
            </a:r>
            <a:endParaRPr lang="en-US" sz="3550" b="1" dirty="0">
              <a:latin typeface="Berlin Sans FB Demi" panose="020E0802020502020306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59B742-446A-748F-06DE-BD5F07BAA860}"/>
              </a:ext>
            </a:extLst>
          </p:cNvPr>
          <p:cNvGrpSpPr/>
          <p:nvPr/>
        </p:nvGrpSpPr>
        <p:grpSpPr>
          <a:xfrm>
            <a:off x="793784" y="573885"/>
            <a:ext cx="6624017" cy="1714909"/>
            <a:chOff x="793784" y="785124"/>
            <a:chExt cx="12976157" cy="1618147"/>
          </a:xfrm>
        </p:grpSpPr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1900FAF6-0AEF-067A-B9EC-BEF7C110DC15}"/>
                </a:ext>
              </a:extLst>
            </p:cNvPr>
            <p:cNvSpPr/>
            <p:nvPr/>
          </p:nvSpPr>
          <p:spPr>
            <a:xfrm>
              <a:off x="8591239" y="785124"/>
              <a:ext cx="5178702" cy="5669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4450"/>
                </a:lnSpc>
              </a:pPr>
              <a:r>
                <a:rPr lang="en-US" sz="3200" b="1" dirty="0">
                  <a:latin typeface="Times New Roman" panose="02020603050405020304" pitchFamily="18" charset="0"/>
                  <a:ea typeface="Roboto Medium" pitchFamily="34" charset="-122"/>
                  <a:cs typeface="Times New Roman" panose="02020603050405020304" pitchFamily="18" charset="0"/>
                </a:rPr>
                <a:t>PROPOSED SYSTEM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EE063C10-6702-5605-4DFD-F242E0E67947}"/>
                </a:ext>
              </a:extLst>
            </p:cNvPr>
            <p:cNvSpPr/>
            <p:nvPr/>
          </p:nvSpPr>
          <p:spPr>
            <a:xfrm>
              <a:off x="793784" y="2112123"/>
              <a:ext cx="9330746" cy="2911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DevSecOps</a:t>
              </a: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-based CI/CD architecture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Automated build and testing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Integrated security scanning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Docker containerization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endPara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Cloud deployment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0D4F3CA-AC07-7A6B-DE0F-03F2E1F8D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6" t="6351" r="1487" b="6349"/>
          <a:stretch>
            <a:fillRect/>
          </a:stretch>
        </p:blipFill>
        <p:spPr>
          <a:xfrm>
            <a:off x="5750089" y="1519474"/>
            <a:ext cx="5841308" cy="434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59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0BFB-C5B8-E9F0-75B4-4D14E11B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9BB1-0C23-070C-9F7D-A561AC1B82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ACC66-B0DD-EEC3-6907-5EB092BF00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2CFEF-729D-7D97-D71D-E987ACD3B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2EEE10-89F6-4C6D-ADF4-09A95C722D5C}"/>
              </a:ext>
            </a:extLst>
          </p:cNvPr>
          <p:cNvSpPr txBox="1"/>
          <p:nvPr/>
        </p:nvSpPr>
        <p:spPr>
          <a:xfrm>
            <a:off x="612639" y="2305615"/>
            <a:ext cx="39310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Security Validation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Errors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Vulnerability Detection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3925431-160F-7E4E-4EE9-D66E2B9E38C9}"/>
              </a:ext>
            </a:extLst>
          </p:cNvPr>
          <p:cNvSpPr/>
          <p:nvPr/>
        </p:nvSpPr>
        <p:spPr>
          <a:xfrm>
            <a:off x="4721476" y="757274"/>
            <a:ext cx="2749048" cy="54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45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990E1-D217-1C07-03C3-F1CAA1EA3D7F}"/>
              </a:ext>
            </a:extLst>
          </p:cNvPr>
          <p:cNvSpPr txBox="1"/>
          <p:nvPr/>
        </p:nvSpPr>
        <p:spPr>
          <a:xfrm>
            <a:off x="6245476" y="2228671"/>
            <a:ext cx="41752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Web Applications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Systems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Development Environments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8FCB3-7F14-6C7C-CC99-FC5957600293}"/>
              </a:ext>
            </a:extLst>
          </p:cNvPr>
          <p:cNvSpPr txBox="1"/>
          <p:nvPr/>
        </p:nvSpPr>
        <p:spPr>
          <a:xfrm>
            <a:off x="612639" y="1735734"/>
            <a:ext cx="1552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8720E-6C19-E4BB-EBD4-131653728C98}"/>
              </a:ext>
            </a:extLst>
          </p:cNvPr>
          <p:cNvSpPr txBox="1"/>
          <p:nvPr/>
        </p:nvSpPr>
        <p:spPr>
          <a:xfrm>
            <a:off x="6245476" y="1706363"/>
            <a:ext cx="1649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</p:txBody>
      </p:sp>
    </p:spTree>
    <p:extLst>
      <p:ext uri="{BB962C8B-B14F-4D97-AF65-F5344CB8AC3E}">
        <p14:creationId xmlns:p14="http://schemas.microsoft.com/office/powerpoint/2010/main" val="138399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C2BB-70A8-A818-8BC4-82EFB610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9E84-E2BF-05A5-48EB-10FD684A8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00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B7B9E-7A22-0690-5250-67775FC78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BB3E0-B0A6-AB96-0D6A-D913A12FE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" y="0"/>
            <a:ext cx="12192000" cy="68580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685FE89D-F50A-0444-770A-ED22EDE0B2AF}"/>
              </a:ext>
            </a:extLst>
          </p:cNvPr>
          <p:cNvSpPr/>
          <p:nvPr/>
        </p:nvSpPr>
        <p:spPr>
          <a:xfrm>
            <a:off x="1635869" y="475779"/>
            <a:ext cx="8541674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 SOFTWARE &amp; HARDWARE REQUIREMENTS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1BB61BC3-160E-96ED-470F-D844BAACD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775" y="1470360"/>
            <a:ext cx="552688" cy="552688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D8F23776-7ACA-A1E0-666D-7AB57203913F}"/>
              </a:ext>
            </a:extLst>
          </p:cNvPr>
          <p:cNvSpPr/>
          <p:nvPr/>
        </p:nvSpPr>
        <p:spPr>
          <a:xfrm>
            <a:off x="1635869" y="155166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Software requirements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83FA1B98-A2B4-643D-F778-BC02E0614843}"/>
              </a:ext>
            </a:extLst>
          </p:cNvPr>
          <p:cNvSpPr/>
          <p:nvPr/>
        </p:nvSpPr>
        <p:spPr>
          <a:xfrm>
            <a:off x="965388" y="2178434"/>
            <a:ext cx="2132654" cy="402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B7BAA05D-39D2-7A6E-53AA-B106080DD2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9656" y="1469508"/>
            <a:ext cx="552688" cy="552688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983BADDF-1B92-0696-D880-30EB503A5D22}"/>
              </a:ext>
            </a:extLst>
          </p:cNvPr>
          <p:cNvSpPr/>
          <p:nvPr/>
        </p:nvSpPr>
        <p:spPr>
          <a:xfrm>
            <a:off x="5906706" y="2360017"/>
            <a:ext cx="5574953" cy="402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System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i3/i5 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GB RAM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GB of Memory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8763A-A5F2-7848-0184-90319A7252F4}"/>
              </a:ext>
            </a:extLst>
          </p:cNvPr>
          <p:cNvSpPr txBox="1"/>
          <p:nvPr/>
        </p:nvSpPr>
        <p:spPr>
          <a:xfrm>
            <a:off x="6501063" y="1487259"/>
            <a:ext cx="398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00D6E7-17AF-525F-77E9-7E6F49A589D0}"/>
              </a:ext>
            </a:extLst>
          </p:cNvPr>
          <p:cNvSpPr/>
          <p:nvPr/>
        </p:nvSpPr>
        <p:spPr>
          <a:xfrm>
            <a:off x="3174579" y="2178434"/>
            <a:ext cx="2132654" cy="402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Strap</a:t>
            </a:r>
          </a:p>
        </p:txBody>
      </p:sp>
    </p:spTree>
    <p:extLst>
      <p:ext uri="{BB962C8B-B14F-4D97-AF65-F5344CB8AC3E}">
        <p14:creationId xmlns:p14="http://schemas.microsoft.com/office/powerpoint/2010/main" val="85204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8402-C66A-33E4-A488-BDE16AFE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6085-B402-8D93-45B4-B5B22F32B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8F72E-CF5A-52BE-F78D-57FCF7F377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F5272-A64E-9734-9A3D-2B924C62B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80CACC2-9DAD-7D70-95A9-542E37F6B848}"/>
              </a:ext>
            </a:extLst>
          </p:cNvPr>
          <p:cNvSpPr/>
          <p:nvPr/>
        </p:nvSpPr>
        <p:spPr>
          <a:xfrm>
            <a:off x="2988483" y="569675"/>
            <a:ext cx="5910233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54286-E71B-8EA9-F317-4A046E7DD41F}"/>
              </a:ext>
            </a:extLst>
          </p:cNvPr>
          <p:cNvSpPr txBox="1"/>
          <p:nvPr/>
        </p:nvSpPr>
        <p:spPr>
          <a:xfrm>
            <a:off x="1169668" y="1995694"/>
            <a:ext cx="365990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Submission Module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Tracking Module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Module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Automation Module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Scanning Module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7EEDF391-CA78-9566-C3D9-2591F32004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EBC06-845B-3D5B-635A-028B4EC6F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3" b="12710"/>
          <a:stretch>
            <a:fillRect/>
          </a:stretch>
        </p:blipFill>
        <p:spPr>
          <a:xfrm>
            <a:off x="6353577" y="1491620"/>
            <a:ext cx="4464835" cy="35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8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AD17-F5EB-9590-4EC3-72BF33AA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030C-B364-6503-68BE-AB27AC78D1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4978F-C3FE-0255-FCA8-0CA400ABF2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41308-A112-F623-2614-DE3A54DED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90FAA6B-4418-B129-83C0-5E20676A370F}"/>
              </a:ext>
            </a:extLst>
          </p:cNvPr>
          <p:cNvSpPr/>
          <p:nvPr/>
        </p:nvSpPr>
        <p:spPr>
          <a:xfrm>
            <a:off x="2880250" y="569675"/>
            <a:ext cx="5910233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35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39294-1C1E-0EAE-43E2-B7B173E827A5}"/>
              </a:ext>
            </a:extLst>
          </p:cNvPr>
          <p:cNvSpPr txBox="1"/>
          <p:nvPr/>
        </p:nvSpPr>
        <p:spPr>
          <a:xfrm>
            <a:off x="521489" y="1828588"/>
            <a:ext cx="86642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 and login functionality.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password hashing and session management.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role-based access control (Admin/User).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application from unauthorized access.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BC23A463-1114-FE07-6B54-69C828E397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3CC3BB-8D8C-7095-5D04-97B84344C9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367" y="1675051"/>
            <a:ext cx="4941812" cy="33615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2233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CE320-5105-A589-2E17-B6386CBC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FAE7-64AF-5D6C-C281-91BD8B7CF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F0EFF-CF0D-EFE5-5768-9C9F5B2D4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99E249-A29A-B834-EEE6-89D5E2573829}"/>
              </a:ext>
            </a:extLst>
          </p:cNvPr>
          <p:cNvSpPr txBox="1"/>
          <p:nvPr/>
        </p:nvSpPr>
        <p:spPr>
          <a:xfrm>
            <a:off x="2831743" y="499954"/>
            <a:ext cx="6259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SUBMISSION MODULE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E92FB-5F2F-7528-9E85-6C949EC0FCA5}"/>
              </a:ext>
            </a:extLst>
          </p:cNvPr>
          <p:cNvSpPr txBox="1"/>
          <p:nvPr/>
        </p:nvSpPr>
        <p:spPr>
          <a:xfrm>
            <a:off x="743563" y="1690688"/>
            <a:ext cx="56151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report new bugs.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bug details (Title, Description, Priority, Status).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bug data securely in the database.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proper bug categorization.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BBD101-3CFE-1DD1-5C01-B60B4E55F7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279" y="1690688"/>
            <a:ext cx="4883624" cy="33481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58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1B42-2F24-2524-699A-10D0634A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13F87-8A7C-15F6-1093-6E60DF6A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EAAA8-67A6-3CEC-C6F0-8142C8E08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16C3B-368B-DC5A-4309-4B6C21CBD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DFE09F-6EF7-9892-E6A1-D6B10F4ED512}"/>
              </a:ext>
            </a:extLst>
          </p:cNvPr>
          <p:cNvSpPr txBox="1"/>
          <p:nvPr/>
        </p:nvSpPr>
        <p:spPr>
          <a:xfrm>
            <a:off x="2966434" y="443131"/>
            <a:ext cx="6259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TRACKING MODULE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3894E-2D04-B8A0-CCB8-01CBDFC18458}"/>
              </a:ext>
            </a:extLst>
          </p:cNvPr>
          <p:cNvSpPr txBox="1"/>
          <p:nvPr/>
        </p:nvSpPr>
        <p:spPr>
          <a:xfrm>
            <a:off x="838200" y="1564422"/>
            <a:ext cx="56151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list of reported bugs.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status updates (Open, In Progress, Resolved)-Admins only.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bug lifecycle management.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 and monitoring.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47AF4C-86F9-9D5E-AE13-5EDE7A43C0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933" y="1564422"/>
            <a:ext cx="4811507" cy="33718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3022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522F-6E01-C255-C7E6-E1110953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A572-5B82-6061-A549-1D34EB50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E026-D68A-EB15-5A7A-F8C9D3A38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F6530-6395-DC21-CAA6-90E1EDEB3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5584B3-974F-760C-A82A-929C67F015CB}"/>
              </a:ext>
            </a:extLst>
          </p:cNvPr>
          <p:cNvSpPr txBox="1"/>
          <p:nvPr/>
        </p:nvSpPr>
        <p:spPr>
          <a:xfrm>
            <a:off x="2966434" y="460032"/>
            <a:ext cx="6259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MODULE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67E2D-FB5B-D65B-C38F-13BF92ACD0E9}"/>
              </a:ext>
            </a:extLst>
          </p:cNvPr>
          <p:cNvSpPr txBox="1"/>
          <p:nvPr/>
        </p:nvSpPr>
        <p:spPr>
          <a:xfrm>
            <a:off x="736779" y="1754525"/>
            <a:ext cx="56151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centralized control for administrators.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users and bug reports.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application activities.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controlled workflow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5F14C-5E1D-A855-D88E-4F78DD4021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684" y="1504839"/>
            <a:ext cx="4773216" cy="33438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8013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C6B6-AFA4-EF45-5C0B-27F08D42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4C20-28C8-9387-7D42-448597A5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D1AC1-742F-7177-82B3-3030F9AF2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FF3FF-7C26-2AFF-C250-9D5DAF393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6E545A-0602-292F-C74C-2CC71462297A}"/>
              </a:ext>
            </a:extLst>
          </p:cNvPr>
          <p:cNvSpPr txBox="1"/>
          <p:nvPr/>
        </p:nvSpPr>
        <p:spPr>
          <a:xfrm>
            <a:off x="3170406" y="451868"/>
            <a:ext cx="6259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AUTOMATION MODULE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9C28F-575B-CD12-4E99-09A83707B748}"/>
              </a:ext>
            </a:extLst>
          </p:cNvPr>
          <p:cNvSpPr txBox="1"/>
          <p:nvPr/>
        </p:nvSpPr>
        <p:spPr>
          <a:xfrm>
            <a:off x="734208" y="1892866"/>
            <a:ext cx="56151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source code from GitHub.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build and testing process.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 pipeline execution on code changes.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continuous integration and deployment.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3DED0-6949-57D4-B1FB-2F27E35A0B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6" b="35026"/>
          <a:stretch>
            <a:fillRect/>
          </a:stretch>
        </p:blipFill>
        <p:spPr>
          <a:xfrm>
            <a:off x="5719182" y="1690688"/>
            <a:ext cx="6368826" cy="146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41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BD7D7-9188-56EE-24A4-7395B6B5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31129-45F2-F165-0BD2-F9376BE4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F92C1-24DA-F8A5-0056-C17FFF398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0994C-1A6C-BDFC-D63C-9D9FAEBC8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C6420-399E-AC23-B335-549F63875707}"/>
              </a:ext>
            </a:extLst>
          </p:cNvPr>
          <p:cNvSpPr txBox="1"/>
          <p:nvPr/>
        </p:nvSpPr>
        <p:spPr>
          <a:xfrm>
            <a:off x="2620046" y="504948"/>
            <a:ext cx="6951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SCANNING MODULE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74EF6-6759-4783-63E9-56E44D0BE821}"/>
              </a:ext>
            </a:extLst>
          </p:cNvPr>
          <p:cNvSpPr txBox="1"/>
          <p:nvPr/>
        </p:nvSpPr>
        <p:spPr>
          <a:xfrm>
            <a:off x="781896" y="1754525"/>
            <a:ext cx="56151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automated vulnerability scanning.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security issues during build stage.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security reports.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deployment to cloud environment.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3769C-B38B-2F43-CBA2-F67B4FE8A3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085" y="1564673"/>
            <a:ext cx="5291359" cy="427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14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1F5E8-673D-4141-500A-D7346C69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EF35-B15E-0127-1E69-4CB3C765ED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9C4B7-EC16-BBFD-96D7-46BEF3222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3E02A-D7D1-0801-B4D2-B6B61B8A0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2CCE2BD-AE70-0FE7-B7EB-69F1A74DFCD4}"/>
              </a:ext>
            </a:extLst>
          </p:cNvPr>
          <p:cNvSpPr/>
          <p:nvPr/>
        </p:nvSpPr>
        <p:spPr>
          <a:xfrm>
            <a:off x="4639483" y="569675"/>
            <a:ext cx="2913033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 CONCLUSION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945CD-61D7-5BB3-AD29-8E1135D724A1}"/>
              </a:ext>
            </a:extLst>
          </p:cNvPr>
          <p:cNvSpPr txBox="1"/>
          <p:nvPr/>
        </p:nvSpPr>
        <p:spPr>
          <a:xfrm>
            <a:off x="812800" y="1986340"/>
            <a:ext cx="10566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security throughout SDLC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automated secure deployment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805814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40AF-06C1-6618-A0A9-FFF8BD43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AFDA-A04F-871F-F003-2ADCAB3D99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2E589-F773-B357-28EF-005BA7B756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5EE45-C28F-4B71-93FC-D917F2A5E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14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8CA52FD-1760-5339-CEA5-7479D9C6DFCF}"/>
              </a:ext>
            </a:extLst>
          </p:cNvPr>
          <p:cNvSpPr/>
          <p:nvPr/>
        </p:nvSpPr>
        <p:spPr>
          <a:xfrm>
            <a:off x="4130423" y="569675"/>
            <a:ext cx="2913033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 REFERENCES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EECB8-5E7F-88A7-EFF4-14FD135D5D0A}"/>
              </a:ext>
            </a:extLst>
          </p:cNvPr>
          <p:cNvSpPr txBox="1"/>
          <p:nvPr/>
        </p:nvSpPr>
        <p:spPr>
          <a:xfrm>
            <a:off x="435735" y="1720840"/>
            <a:ext cx="113205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Jabbari, N. bin Ali, K. Petersen, and B. Tanveer, “What is DevOps? A systematic mapping study on definitions and practices,” </a:t>
            </a:r>
            <a:r>
              <a:rPr lang="en-US" alt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Systems and Software</a:t>
            </a:r>
            <a:r>
              <a:rPr lang="en-US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137, pp. 87–103, 2018, </a:t>
            </a:r>
            <a:r>
              <a:rPr lang="en-US" altLang="en-U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10.1016/j.jss.2017.12.019.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[2]M. Rahman, A. Williams, and L. Chen, “Integrating security into CI/CD pipelines: A </a:t>
            </a:r>
            <a:r>
              <a:rPr lang="en-US" altLang="en-U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approach,” </a:t>
            </a:r>
            <a:r>
              <a:rPr lang="en-US" alt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8, pp. 190247–190259, 2020, </a:t>
            </a:r>
            <a:r>
              <a:rPr lang="en-US" altLang="en-U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10.1109/ACCESS.2020.3031415.</a:t>
            </a:r>
          </a:p>
          <a:p>
            <a:pPr algn="just"/>
            <a:b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NIST, “Secure Software Development Framework (SSDF),” 2020.</a:t>
            </a:r>
          </a:p>
          <a:p>
            <a:pPr algn="just"/>
            <a:endParaRPr lang="en-US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[4]S. </a:t>
            </a:r>
            <a:r>
              <a:rPr lang="en-U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Myrbakken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R. Colomo-Palacios, “</a:t>
            </a:r>
            <a:r>
              <a:rPr lang="en-U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multivocal literature review,” </a:t>
            </a:r>
            <a:r>
              <a:rPr 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Software Process Improvement and Capability Determination (SPICE)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 17–29, 2017, </a:t>
            </a:r>
            <a:r>
              <a:rPr lang="en-US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10.1007/978-3-319-67383-7_2.</a:t>
            </a:r>
            <a:endParaRPr lang="en-US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834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05710-A783-C3F6-2D9D-8060C8C5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297A16-FDA2-7EA5-8295-82972B827F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6CE37-6175-0E8F-D13A-08F3BA4DE721}"/>
              </a:ext>
            </a:extLst>
          </p:cNvPr>
          <p:cNvSpPr txBox="1"/>
          <p:nvPr/>
        </p:nvSpPr>
        <p:spPr>
          <a:xfrm>
            <a:off x="2975020" y="2459504"/>
            <a:ext cx="75727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dirty="0">
                <a:solidFill>
                  <a:schemeClr val="bg2"/>
                </a:solidFill>
                <a:latin typeface="Edwardian Script ITC" panose="030303020407070D0804" pitchFamily="66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4056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534</TotalTime>
  <Words>755</Words>
  <Application>Microsoft Office PowerPoint</Application>
  <PresentationFormat>Widescreen</PresentationFormat>
  <Paragraphs>209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ADLaM Display</vt:lpstr>
      <vt:lpstr>Arial</vt:lpstr>
      <vt:lpstr>Berlin Sans FB Demi</vt:lpstr>
      <vt:lpstr>Calibri</vt:lpstr>
      <vt:lpstr>Calibri Light</vt:lpstr>
      <vt:lpstr>Edwardian Script ITC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00</vt:lpstr>
      <vt:lpstr>PowerPoint Presentation</vt:lpstr>
      <vt:lpstr>PowerPoint Presentation</vt:lpstr>
      <vt:lpstr>PowerPoint Presentation</vt:lpstr>
      <vt:lpstr>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kumar</dc:creator>
  <cp:lastModifiedBy>Siva Sankar</cp:lastModifiedBy>
  <cp:revision>71</cp:revision>
  <cp:lastPrinted>2026-02-25T08:22:54Z</cp:lastPrinted>
  <dcterms:created xsi:type="dcterms:W3CDTF">2026-02-23T09:08:49Z</dcterms:created>
  <dcterms:modified xsi:type="dcterms:W3CDTF">2026-02-25T10:50:55Z</dcterms:modified>
</cp:coreProperties>
</file>